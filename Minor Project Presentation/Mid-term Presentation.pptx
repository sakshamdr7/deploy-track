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3640" r:id="rId3"/>
    <p:sldId id="3694" r:id="rId4"/>
    <p:sldId id="3697" r:id="rId5"/>
    <p:sldId id="3700" r:id="rId6"/>
    <p:sldId id="3701" r:id="rId7"/>
    <p:sldId id="3702" r:id="rId8"/>
    <p:sldId id="3703" r:id="rId9"/>
    <p:sldId id="3704" r:id="rId10"/>
    <p:sldId id="3705" r:id="rId11"/>
    <p:sldId id="3706" r:id="rId12"/>
    <p:sldId id="3709" r:id="rId13"/>
    <p:sldId id="3710" r:id="rId14"/>
    <p:sldId id="3711" r:id="rId15"/>
    <p:sldId id="3716" r:id="rId16"/>
    <p:sldId id="3712" r:id="rId17"/>
    <p:sldId id="3713" r:id="rId18"/>
    <p:sldId id="3714" r:id="rId19"/>
    <p:sldId id="3717" r:id="rId20"/>
    <p:sldId id="3715" r:id="rId21"/>
    <p:sldId id="3718" r:id="rId22"/>
    <p:sldId id="3719" r:id="rId23"/>
    <p:sldId id="3707" r:id="rId24"/>
    <p:sldId id="3708" r:id="rId25"/>
    <p:sldId id="3720" r:id="rId26"/>
    <p:sldId id="364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keshi Parnami" initials="S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36FF"/>
    <a:srgbClr val="4AAEFC"/>
    <a:srgbClr val="434ACF"/>
    <a:srgbClr val="BF2CFE"/>
    <a:srgbClr val="46B0FA"/>
    <a:srgbClr val="27D4F8"/>
    <a:srgbClr val="D9FF00"/>
    <a:srgbClr val="E0E600"/>
    <a:srgbClr val="0B2F3E"/>
    <a:srgbClr val="B1B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13" autoAdjust="0"/>
    <p:restoredTop sz="96327"/>
  </p:normalViewPr>
  <p:slideViewPr>
    <p:cSldViewPr snapToGrid="0" snapToObjects="1" showGuides="1">
      <p:cViewPr varScale="1">
        <p:scale>
          <a:sx n="73" d="100"/>
          <a:sy n="73" d="100"/>
        </p:scale>
        <p:origin x="48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9D15D-1C13-CC45-BE09-4D54E9A973B4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3A8CF-95A7-924D-878B-183116A25DFA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3D9895-3AFC-9E49-BB6B-D5AF81433D95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45BD75-B1E6-DE4E-8CD3-58B4BE092B5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3F520-AAB7-4D20-958E-A456239933B0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316BF-8A16-4F24-9F8F-9D40354D5A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98853" y="86497"/>
            <a:ext cx="11998411" cy="6685005"/>
          </a:xfrm>
          <a:prstGeom prst="rect">
            <a:avLst/>
          </a:prstGeom>
          <a:noFill/>
          <a:ln w="28575">
            <a:solidFill>
              <a:srgbClr val="46B0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picture containing text, clipart&#10;&#10;Description automatically generated"/>
          <p:cNvPicPr>
            <a:picLocks noChangeAspect="1"/>
          </p:cNvPicPr>
          <p:nvPr userDrawn="1"/>
        </p:nvPicPr>
        <p:blipFill rotWithShape="1">
          <a:blip r:embed="rId4"/>
          <a:srcRect t="12813" r="7454"/>
          <a:stretch>
            <a:fillRect/>
          </a:stretch>
        </p:blipFill>
        <p:spPr>
          <a:xfrm>
            <a:off x="10718090" y="127821"/>
            <a:ext cx="1336257" cy="54077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text, sign, outdoor&#10;&#10;Description automatically generated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224184" y="215008"/>
            <a:ext cx="876170" cy="1491678"/>
          </a:xfrm>
          <a:prstGeom prst="rect">
            <a:avLst/>
          </a:prstGeom>
        </p:spPr>
      </p:pic>
      <p:pic>
        <p:nvPicPr>
          <p:cNvPr id="5" name="Picture 4" descr="A picture containing text, clipart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017" y="143688"/>
            <a:ext cx="4564228" cy="147409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756262" y="1532487"/>
            <a:ext cx="67012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 smtClean="0"/>
              <a:t>Minor Project</a:t>
            </a:r>
            <a:endParaRPr lang="en-IN" sz="5400" dirty="0"/>
          </a:p>
        </p:txBody>
      </p:sp>
      <p:sp>
        <p:nvSpPr>
          <p:cNvPr id="4" name="TextBox 3"/>
          <p:cNvSpPr txBox="1"/>
          <p:nvPr/>
        </p:nvSpPr>
        <p:spPr>
          <a:xfrm>
            <a:off x="1180999" y="2560320"/>
            <a:ext cx="994855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 smtClean="0"/>
              <a:t>Title:</a:t>
            </a:r>
            <a:r>
              <a:rPr lang="en-US" altLang="en-GB" sz="3200" dirty="0"/>
              <a:t>Design and Implementation of a CI/CD Pipeline for Automated Deployment</a:t>
            </a:r>
            <a:endParaRPr lang="en-US" altLang="en-GB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04829" y="5003074"/>
            <a:ext cx="3174275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Presented by:</a:t>
            </a:r>
            <a:r>
              <a:rPr lang="en-US" altLang="en-IN" sz="2000" b="1" dirty="0" smtClean="0"/>
              <a:t>-</a:t>
            </a:r>
            <a:endParaRPr lang="en-IN" sz="2000" b="1" dirty="0" smtClean="0"/>
          </a:p>
          <a:p>
            <a:r>
              <a:rPr lang="en-IN" dirty="0" smtClean="0"/>
              <a:t>500121945- Saksham Gupta</a:t>
            </a:r>
            <a:endParaRPr lang="en-IN" dirty="0" smtClean="0"/>
          </a:p>
          <a:p>
            <a:r>
              <a:rPr lang="en-US" altLang="en-GB" dirty="0" smtClean="0"/>
              <a:t>500121881- Rishi Jhunjhunwala</a:t>
            </a:r>
            <a:endParaRPr lang="en-US" altLang="en-GB" dirty="0" smtClean="0"/>
          </a:p>
          <a:p>
            <a:r>
              <a:rPr lang="en-US" altLang="en-GB" dirty="0" smtClean="0"/>
              <a:t>500120365- Akash Meena</a:t>
            </a:r>
            <a:endParaRPr lang="en-US" altLang="en-GB" dirty="0" smtClean="0"/>
          </a:p>
          <a:p>
            <a:r>
              <a:rPr lang="en-US" altLang="en-GB" dirty="0" smtClean="0"/>
              <a:t>500124112- Rishav Gupta</a:t>
            </a:r>
            <a:endParaRPr lang="en-US" altLang="en-GB" dirty="0" smtClean="0"/>
          </a:p>
          <a:p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7966075" y="4789170"/>
            <a:ext cx="3634105" cy="1762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2000" b="1" dirty="0" smtClean="0"/>
              <a:t>Mentored By</a:t>
            </a:r>
            <a:r>
              <a:rPr lang="en-US" altLang="en-IN" sz="2000" b="1" dirty="0" smtClean="0"/>
              <a:t>:</a:t>
            </a:r>
            <a:r>
              <a:rPr lang="en-IN" sz="2000" b="1" dirty="0" smtClean="0"/>
              <a:t>- </a:t>
            </a:r>
            <a:endParaRPr lang="en-IN" sz="2000" b="1" dirty="0" smtClean="0"/>
          </a:p>
          <a:p>
            <a:r>
              <a:rPr lang="en-IN" dirty="0" smtClean="0"/>
              <a:t>Milton Kumar Sir</a:t>
            </a:r>
            <a:endParaRPr lang="en-IN" dirty="0" smtClean="0"/>
          </a:p>
          <a:p>
            <a:endParaRPr lang="en-US" altLang="en-IN" dirty="0"/>
          </a:p>
          <a:p>
            <a:r>
              <a:rPr lang="en-US" altLang="en-IN" sz="2000" b="1" dirty="0"/>
              <a:t>Activity Co-ordinator:-</a:t>
            </a:r>
            <a:endParaRPr lang="en-US" altLang="en-IN" sz="2000" b="1" dirty="0"/>
          </a:p>
          <a:p>
            <a:r>
              <a:rPr lang="en-US" altLang="en-IN" sz="2000" dirty="0"/>
              <a:t>Rochak Swami</a:t>
            </a:r>
            <a:endParaRPr lang="en-US" altLang="en-IN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5455" y="833120"/>
            <a:ext cx="4650105" cy="55518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Introduction &amp; Technical Background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Motivation &amp; Problem Statement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Literature Review / Existing Solutions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Project Objectives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System Architecture &amp; Design Diagrams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Working Model / Web Application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Results &amp; Testing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Conclusion &amp; Future Scope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5927" y="222500"/>
            <a:ext cx="753036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3200" b="1" dirty="0" smtClean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&amp; Technical Background</a:t>
            </a:r>
            <a:endParaRPr lang="en-US" altLang="en-GB" sz="3200" b="1" dirty="0" smtClean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18440" y="2261870"/>
            <a:ext cx="5951855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1600"/>
              <a:t>Modern software development requires fast, reliable, and frequent updates.</a:t>
            </a:r>
            <a:endParaRPr lang="en-US" altLang="en-GB" sz="1600"/>
          </a:p>
          <a:p>
            <a:r>
              <a:rPr lang="en-US" altLang="en-GB" sz="1600"/>
              <a:t>Traditional manual deployment processes are time-consuming and prone to human errors, which often leads to delays and system instability.</a:t>
            </a:r>
            <a:endParaRPr lang="en-US" altLang="en-GB" sz="1600"/>
          </a:p>
          <a:p>
            <a:endParaRPr lang="en-US" altLang="en-GB" sz="1600"/>
          </a:p>
          <a:p>
            <a:r>
              <a:rPr lang="en-US" altLang="en-GB" sz="1600"/>
              <a:t>Continuous Integration and Continuous Deployment (CI/CD) pipelines automate the processes of building, testing, and deploying software applications.</a:t>
            </a:r>
            <a:endParaRPr lang="en-US" altLang="en-GB" sz="1600"/>
          </a:p>
          <a:p>
            <a:endParaRPr lang="en-US" altLang="en-GB" sz="1600"/>
          </a:p>
          <a:p>
            <a:r>
              <a:rPr lang="en-US" altLang="en-GB" sz="1600"/>
              <a:t>By automating these processes, CI/CD improves development efficiency, reduces human error, and ensures faster delivery of software updates.</a:t>
            </a:r>
            <a:endParaRPr lang="en-US" altLang="en-GB" sz="1600"/>
          </a:p>
        </p:txBody>
      </p:sp>
      <p:sp>
        <p:nvSpPr>
          <p:cNvPr id="5" name="Text Box 4"/>
          <p:cNvSpPr txBox="1"/>
          <p:nvPr/>
        </p:nvSpPr>
        <p:spPr>
          <a:xfrm>
            <a:off x="325755" y="1670050"/>
            <a:ext cx="5050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Why CI/CD Matters</a:t>
            </a:r>
            <a:r>
              <a:rPr lang="en-IN" altLang="en-US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?</a:t>
            </a:r>
            <a:endParaRPr lang="en-IN" altLang="en-US" sz="2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604635" y="2026920"/>
            <a:ext cx="4016375" cy="2939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Core Technologies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• CI/CD Pipeline orchestration</a:t>
            </a:r>
            <a:endParaRPr lang="en-US" altLang="en-GB"/>
          </a:p>
          <a:p>
            <a:r>
              <a:rPr lang="en-US" altLang="en-GB"/>
              <a:t>• Web Application Architecture</a:t>
            </a:r>
            <a:endParaRPr lang="en-US" altLang="en-GB"/>
          </a:p>
          <a:p>
            <a:r>
              <a:rPr lang="en-US" altLang="en-GB"/>
              <a:t>• Database logging and deployment tracking</a:t>
            </a:r>
            <a:endParaRPr lang="en-US" altLang="en-GB"/>
          </a:p>
          <a:p>
            <a:r>
              <a:rPr lang="en-US" altLang="en-GB"/>
              <a:t>• GitHub version control</a:t>
            </a:r>
            <a:endParaRPr lang="en-US" altLang="en-GB"/>
          </a:p>
          <a:p>
            <a:r>
              <a:rPr lang="en-US" altLang="en-GB"/>
              <a:t>• Containerization using Docker</a:t>
            </a:r>
            <a:endParaRPr lang="en-U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487" y="248626"/>
            <a:ext cx="753036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 &amp; Problem Statement</a:t>
            </a:r>
            <a:endParaRPr lang="en-US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7615" y="1035578"/>
            <a:ext cx="9901002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GB" sz="2000" b="1" i="0" u="sng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Challenge</a:t>
            </a:r>
            <a:endParaRPr kumimoji="0" lang="en-US" altLang="en-GB" sz="2000" b="1" i="0" u="sng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GB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Software development teams often lack centralized systems to effectively track deployments and monitor release updates.</a:t>
            </a:r>
            <a:endParaRPr kumimoji="0" lang="en-US" altLang="en-GB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GB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GB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Manual deployment tracking introduces several problems such as errors, poor visibility, and lack of historical data, making it difficult to manage deployment processes efficiently.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92760" y="3980815"/>
            <a:ext cx="1075055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 u="sng">
                <a:solidFill>
                  <a:srgbClr val="FF0000"/>
                </a:solidFill>
              </a:rPr>
              <a:t>Proposed Solution</a:t>
            </a:r>
            <a:endParaRPr lang="en-US" altLang="en-GB"/>
          </a:p>
          <a:p>
            <a:endParaRPr lang="en-US" altLang="en-GB"/>
          </a:p>
          <a:p>
            <a:r>
              <a:rPr lang="en-US" altLang="en-GB" sz="2000"/>
              <a:t>To address this challenge, this project proposes the development of a lightweight web-based deployment monitoring system integrated with a CI/CD pipeline.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/>
              <a:t>The system will automate deployment tracking, reduce manual errors, improve deployment visibility, and provide practical DevOps implementation experience.</a:t>
            </a:r>
            <a:endParaRPr lang="en-US" altLang="en-GB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5927" y="257516"/>
            <a:ext cx="753036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 of Application &amp; Dataset</a:t>
            </a:r>
            <a:endParaRPr lang="en-US" altLang="en-GB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5755" y="1002030"/>
            <a:ext cx="11619230" cy="5490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Applications</a:t>
            </a:r>
            <a:endParaRPr lang="en-US" altLang="en-GB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• Software development organizations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• DevOps engineering teams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• Release management operations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• Deployment monitoring systems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Data Structure</a:t>
            </a:r>
            <a:endParaRPr lang="en-US" altLang="en-GB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The system processes deployment-related data generated during CI/CD pipeline execution.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The stored data includes: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• Deployment ID and application version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• Build status and test results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• Deployment timestamps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• Release notes and update information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• System logs generated during pipeline execution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This structured dataset allows the dashboard to provide real-time monitoring and historical deployment analysis.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5927" y="248626"/>
            <a:ext cx="753036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Solutions</a:t>
            </a:r>
            <a:endParaRPr lang="en-US" altLang="en-GB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5664" y="1305770"/>
            <a:ext cx="9901002" cy="4369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Jenkins CI/CD</a:t>
            </a:r>
            <a:endParaRPr lang="en-US" altLang="en-GB" sz="20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Enterprise-grade automation server used for building and deploying applications.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2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Actions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Integrated workflow automation platform used directly with GitHub repositories.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2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GitLab CI/CD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A complete DevOps platform that provides CI/CD capabilities integrated with source control.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2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CircleCI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Cloud-based CI/CD platform designed for automated testing and deployment.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5927" y="248626"/>
            <a:ext cx="753036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SWOT Analysis</a:t>
            </a:r>
            <a:endParaRPr lang="en-US" altLang="en-GB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5664" y="1208162"/>
            <a:ext cx="9901002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2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</a:t>
            </a:r>
            <a:endParaRPr lang="en-US" altLang="en-GB" sz="20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Automated deployment tracking with real-time monitoring.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2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Weakness</a:t>
            </a:r>
            <a:endParaRPr lang="en-US" altLang="en-GB" sz="20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Limited scalability compared to enterprise-grade DevOps platforms.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2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Opportunity</a:t>
            </a:r>
            <a:endParaRPr lang="en-US" altLang="en-GB" sz="20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Integration with cloud services and expansion into full DevOps monitoring platforms.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2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Threat</a:t>
            </a:r>
            <a:endParaRPr lang="en-US" altLang="en-GB" sz="20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Competition from well-established DevOps tools already used in industry.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5927" y="248626"/>
            <a:ext cx="753036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Objectives</a:t>
            </a:r>
            <a:endParaRPr lang="en-US" altLang="en-GB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74980" y="1202055"/>
            <a:ext cx="836358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 u="sng">
                <a:solidFill>
                  <a:srgbClr val="FF0000"/>
                </a:solidFill>
              </a:rPr>
              <a:t>1 — Develop Web Dashboard</a:t>
            </a:r>
            <a:endParaRPr lang="en-US" altLang="en-GB" sz="2000" b="1" u="sng">
              <a:solidFill>
                <a:srgbClr val="FF0000"/>
              </a:solidFill>
            </a:endParaRPr>
          </a:p>
          <a:p>
            <a:r>
              <a:rPr lang="en-US" altLang="en-GB"/>
              <a:t>Create an intuitive user interface to monitor deployments and track system updates.</a:t>
            </a:r>
            <a:endParaRPr lang="en-US" altLang="en-GB"/>
          </a:p>
          <a:p>
            <a:endParaRPr lang="en-US" altLang="en-GB"/>
          </a:p>
          <a:p>
            <a:r>
              <a:rPr lang="en-US" altLang="en-GB" sz="2000" b="1" u="sng">
                <a:solidFill>
                  <a:srgbClr val="FF0000"/>
                </a:solidFill>
              </a:rPr>
              <a:t>2 — Store Deployment Data</a:t>
            </a:r>
            <a:endParaRPr lang="en-US" altLang="en-GB"/>
          </a:p>
          <a:p>
            <a:r>
              <a:rPr lang="en-US" altLang="en-GB"/>
              <a:t>Design and implement a database system to store deployment records and release information.</a:t>
            </a:r>
            <a:endParaRPr lang="en-US" altLang="en-GB"/>
          </a:p>
          <a:p>
            <a:endParaRPr lang="en-US" altLang="en-GB"/>
          </a:p>
          <a:p>
            <a:r>
              <a:rPr lang="en-US" altLang="en-GB" sz="2000" b="1" u="sng">
                <a:solidFill>
                  <a:srgbClr val="FF0000"/>
                </a:solidFill>
              </a:rPr>
              <a:t>3 — Implement CI/CD Pipeline</a:t>
            </a:r>
            <a:endParaRPr lang="en-US" altLang="en-GB"/>
          </a:p>
          <a:p>
            <a:r>
              <a:rPr lang="en-US" altLang="en-GB"/>
              <a:t>Automate build, testing, and deployment workflows using CI/CD tools.</a:t>
            </a:r>
            <a:endParaRPr lang="en-US" altLang="en-GB"/>
          </a:p>
          <a:p>
            <a:endParaRPr lang="en-US" altLang="en-GB"/>
          </a:p>
          <a:p>
            <a:r>
              <a:rPr lang="en-US" altLang="en-GB" sz="2000" b="1" u="sng">
                <a:solidFill>
                  <a:srgbClr val="FF0000"/>
                </a:solidFill>
              </a:rPr>
              <a:t>4 — Automate Updates</a:t>
            </a:r>
            <a:endParaRPr lang="en-US" altLang="en-GB"/>
          </a:p>
          <a:p>
            <a:r>
              <a:rPr lang="en-US" altLang="en-GB"/>
              <a:t>Enable automatic deployment status updates through pipeline integration.</a:t>
            </a:r>
            <a:endParaRPr lang="en-US" altLang="en-GB"/>
          </a:p>
          <a:p>
            <a:endParaRPr lang="en-US" altLang="en-GB"/>
          </a:p>
          <a:p>
            <a:r>
              <a:rPr lang="en-US" altLang="en-GB" sz="2000" b="1" u="sng">
                <a:solidFill>
                  <a:srgbClr val="FF0000"/>
                </a:solidFill>
              </a:rPr>
              <a:t>5 — Track Deployment History</a:t>
            </a:r>
            <a:endParaRPr lang="en-US" altLang="en-GB" sz="2000" b="1" u="sng">
              <a:solidFill>
                <a:srgbClr val="FF0000"/>
              </a:solidFill>
            </a:endParaRPr>
          </a:p>
          <a:p>
            <a:r>
              <a:rPr lang="en-US" altLang="en-GB"/>
              <a:t>Maintain a complete record of deployments for analysis and monitoring.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5927" y="222501"/>
            <a:ext cx="753036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US" altLang="en-GB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5755" y="733425"/>
            <a:ext cx="8155305" cy="5695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2000" b="1" u="sng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Model: Incremental Development</a:t>
            </a:r>
            <a:endParaRPr lang="en-US" altLang="en-GB" sz="2000" b="1" u="sng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b="1" u="sng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Requirement Analysis</a:t>
            </a:r>
            <a:endParaRPr lang="en-US" altLang="en-GB" b="1" u="sng" dirty="0" smtClean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Identify system requirements, define deployment tracking needs, and analyze system scope.</a:t>
            </a:r>
            <a:endParaRPr lang="en-US" alt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b="1" u="sng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System Design</a:t>
            </a:r>
            <a:endParaRPr lang="en-US" alt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Design system architecture, database schema, and application workflow.</a:t>
            </a:r>
            <a:endParaRPr lang="en-US" alt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b="1" u="sng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Web Application Development</a:t>
            </a:r>
            <a:endParaRPr lang="en-US" alt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Develop frontend dashboard and backend application for deployment tracking.</a:t>
            </a:r>
            <a:endParaRPr lang="en-US" alt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b="1" u="sng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CI/CD Integration</a:t>
            </a:r>
            <a:endParaRPr lang="en-US" alt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Connect automated CI/CD pipeline with the web application.</a:t>
            </a:r>
            <a:endParaRPr lang="en-US" alt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b="1" u="sng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Testing</a:t>
            </a:r>
            <a:endParaRPr lang="en-US" alt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Test functionality, deployment workflows, and database operations.</a:t>
            </a:r>
            <a:endParaRPr lang="en-US" alt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b="1" u="sng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Deployment</a:t>
            </a:r>
            <a:endParaRPr lang="en-US" altLang="en-GB" b="1" u="sng" dirty="0" smtClean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Deploy the system and monitor application performance.</a:t>
            </a:r>
            <a:endParaRPr lang="en-US" alt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806815" y="1468755"/>
            <a:ext cx="2901950" cy="3181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 u="sng">
                <a:solidFill>
                  <a:srgbClr val="FF0000"/>
                </a:solidFill>
              </a:rPr>
              <a:t>Tools Used:</a:t>
            </a:r>
            <a:endParaRPr lang="en-US" altLang="en-GB" b="1" u="sng">
              <a:solidFill>
                <a:srgbClr val="FF0000"/>
              </a:solidFill>
            </a:endParaRPr>
          </a:p>
          <a:p>
            <a:endParaRPr lang="en-US" altLang="en-GB"/>
          </a:p>
          <a:p>
            <a:r>
              <a:rPr lang="en-US" altLang="en-GB"/>
              <a:t>• GitHub (Version Control)</a:t>
            </a:r>
            <a:endParaRPr lang="en-US" altLang="en-GB"/>
          </a:p>
          <a:p>
            <a:r>
              <a:rPr lang="en-US" altLang="en-GB"/>
              <a:t>• GitHub Actions / CI/CD Tool</a:t>
            </a:r>
            <a:endParaRPr lang="en-US" altLang="en-GB"/>
          </a:p>
          <a:p>
            <a:r>
              <a:rPr lang="en-US" altLang="en-GB"/>
              <a:t>• Docker (Containerization)</a:t>
            </a:r>
            <a:endParaRPr lang="en-US" altLang="en-GB"/>
          </a:p>
          <a:p>
            <a:r>
              <a:rPr lang="en-US" altLang="en-GB"/>
              <a:t>• Web Application Framework (Frontend + Backend)</a:t>
            </a:r>
            <a:endParaRPr lang="en-US" altLang="en-GB"/>
          </a:p>
          <a:p>
            <a:r>
              <a:rPr lang="en-US" altLang="en-GB"/>
              <a:t>• Database (MySQL / MongoDB)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5927" y="248626"/>
            <a:ext cx="753036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Model &amp; Architecture</a:t>
            </a:r>
            <a:endParaRPr lang="en-US" altLang="en-GB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6870" y="832485"/>
            <a:ext cx="724916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  <a:endParaRPr lang="en-US" altLang="en-GB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b="1" u="sng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Developers commit code changes to the version control repository.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b="1" u="sng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Repository</a:t>
            </a:r>
            <a:endParaRPr lang="en-US" altLang="en-GB" b="1" u="sng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Source code is stored and managed using GitHub.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b="1" u="sng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CI/CD Pipeline</a:t>
            </a:r>
            <a:endParaRPr lang="en-US" altLang="en-GB" b="1" u="sng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The pipeline automatically builds and tests the application.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b="1" u="sng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Application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A dashboard interface displays deployment information and 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monitoring data.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b="1" u="sng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endParaRPr lang="en-US" altLang="en-GB" b="1" u="sng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dirty="0">
                <a:latin typeface="Arial" panose="020B0604020202020204" pitchFamily="34" charset="0"/>
                <a:cs typeface="Arial" panose="020B0604020202020204" pitchFamily="34" charset="0"/>
              </a:rPr>
              <a:t>Stores deployment records, logs, and release history.</a:t>
            </a:r>
            <a:endParaRPr lang="en-US" alt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606030" y="832485"/>
            <a:ext cx="4277360" cy="4935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 u="sng">
                <a:solidFill>
                  <a:srgbClr val="FF0000"/>
                </a:solidFill>
              </a:rPr>
              <a:t>Key Modules</a:t>
            </a:r>
            <a:endParaRPr lang="en-US" altLang="en-GB"/>
          </a:p>
          <a:p>
            <a:endParaRPr lang="en-US" altLang="en-GB"/>
          </a:p>
          <a:p>
            <a:r>
              <a:rPr lang="en-US" altLang="en-GB" b="1" u="sng">
                <a:solidFill>
                  <a:srgbClr val="7030A0"/>
                </a:solidFill>
              </a:rPr>
              <a:t>Dashboard Module</a:t>
            </a:r>
            <a:endParaRPr lang="en-US" altLang="en-GB"/>
          </a:p>
          <a:p>
            <a:r>
              <a:rPr lang="en-US" altLang="en-GB"/>
              <a:t>Displays deployment statistics and real-time monitoring information.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 u="sng">
                <a:solidFill>
                  <a:srgbClr val="7030A0"/>
                </a:solidFill>
              </a:rPr>
              <a:t>Tracking Module</a:t>
            </a:r>
            <a:endParaRPr lang="en-US" altLang="en-GB" b="1" u="sng">
              <a:solidFill>
                <a:srgbClr val="7030A0"/>
              </a:solidFill>
            </a:endParaRPr>
          </a:p>
          <a:p>
            <a:r>
              <a:rPr lang="en-US" altLang="en-GB"/>
              <a:t>Tracks deployment processes and build status.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 u="sng">
                <a:solidFill>
                  <a:srgbClr val="7030A0"/>
                </a:solidFill>
              </a:rPr>
              <a:t>Release Module</a:t>
            </a:r>
            <a:endParaRPr lang="en-US" altLang="en-GB" b="1" u="sng">
              <a:solidFill>
                <a:srgbClr val="7030A0"/>
              </a:solidFill>
            </a:endParaRPr>
          </a:p>
          <a:p>
            <a:r>
              <a:rPr lang="en-US" altLang="en-GB"/>
              <a:t>Manages application version updates and release notes.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 u="sng">
                <a:solidFill>
                  <a:srgbClr val="7030A0"/>
                </a:solidFill>
              </a:rPr>
              <a:t>Database Module</a:t>
            </a:r>
            <a:endParaRPr lang="en-US" altLang="en-GB" b="1" u="sng">
              <a:solidFill>
                <a:srgbClr val="7030A0"/>
              </a:solidFill>
            </a:endParaRPr>
          </a:p>
          <a:p>
            <a:r>
              <a:rPr lang="en-US" altLang="en-GB"/>
              <a:t>Stores deployment logs and application data.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 u="sng">
                <a:solidFill>
                  <a:srgbClr val="7030A0"/>
                </a:solidFill>
              </a:rPr>
              <a:t>CI/CD Module</a:t>
            </a:r>
            <a:endParaRPr lang="en-US" altLang="en-GB" b="1" u="sng">
              <a:solidFill>
                <a:srgbClr val="7030A0"/>
              </a:solidFill>
            </a:endParaRPr>
          </a:p>
          <a:p>
            <a:r>
              <a:rPr lang="en-US" altLang="en-GB"/>
              <a:t>Automates build and deployment workflows.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32740" y="507365"/>
            <a:ext cx="81756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3200" b="1" u="sng">
                <a:solidFill>
                  <a:srgbClr val="0070C0"/>
                </a:solidFill>
              </a:rPr>
              <a:t>Working Model / Web Application Screens</a:t>
            </a:r>
            <a:endParaRPr lang="en-US" altLang="en-GB" sz="3200" b="1" u="sng">
              <a:solidFill>
                <a:srgbClr val="0070C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70510" y="1159510"/>
            <a:ext cx="117030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 u="sng">
                <a:solidFill>
                  <a:srgbClr val="FF0000"/>
                </a:solidFill>
              </a:rPr>
              <a:t>Dashboard Page</a:t>
            </a:r>
            <a:r>
              <a:rPr lang="en-IN" altLang="en-US" sz="2000" b="1" u="sng">
                <a:solidFill>
                  <a:srgbClr val="FF0000"/>
                </a:solidFill>
              </a:rPr>
              <a:t>:</a:t>
            </a:r>
            <a:r>
              <a:rPr lang="en-IN" altLang="en-US" sz="2000" b="1">
                <a:solidFill>
                  <a:schemeClr val="tx1"/>
                </a:solidFill>
              </a:rPr>
              <a:t> </a:t>
            </a:r>
            <a:r>
              <a:rPr lang="en-US" altLang="en-GB" sz="2000" b="1">
                <a:solidFill>
                  <a:schemeClr val="tx1"/>
                </a:solidFill>
              </a:rPr>
              <a:t>Dashboard showing total deployments, successful deployments, and failed deployments.</a:t>
            </a:r>
            <a:endParaRPr lang="en-US" altLang="en-GB" sz="2000" b="1">
              <a:solidFill>
                <a:schemeClr val="tx1"/>
              </a:solidFill>
            </a:endParaRPr>
          </a:p>
        </p:txBody>
      </p:sp>
      <p:pic>
        <p:nvPicPr>
          <p:cNvPr id="4" name="Picture 3" descr="Screenshot 2026-03-13 at 7.17.57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395" y="1626870"/>
            <a:ext cx="10544810" cy="49002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73405" y="391160"/>
            <a:ext cx="10688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 u="sng">
                <a:solidFill>
                  <a:srgbClr val="FF0000"/>
                </a:solidFill>
              </a:rPr>
              <a:t>Deployment History Page</a:t>
            </a:r>
            <a:r>
              <a:rPr lang="en-IN" altLang="en-US" sz="2400" b="1" u="sng">
                <a:solidFill>
                  <a:srgbClr val="FF0000"/>
                </a:solidFill>
              </a:rPr>
              <a:t>:</a:t>
            </a:r>
            <a:r>
              <a:rPr lang="en-IN" altLang="en-US" sz="2400" b="1">
                <a:solidFill>
                  <a:schemeClr val="tx1"/>
                </a:solidFill>
              </a:rPr>
              <a:t> </a:t>
            </a:r>
            <a:r>
              <a:rPr lang="en-US" altLang="en-GB" sz="2400" b="1">
                <a:solidFill>
                  <a:schemeClr val="tx1"/>
                </a:solidFill>
              </a:rPr>
              <a:t>show</a:t>
            </a:r>
            <a:r>
              <a:rPr lang="en-IN" altLang="en-US" sz="2400" b="1">
                <a:solidFill>
                  <a:schemeClr val="tx1"/>
                </a:solidFill>
              </a:rPr>
              <a:t>s</a:t>
            </a:r>
            <a:r>
              <a:rPr lang="en-US" altLang="en-GB" sz="2400" b="1">
                <a:solidFill>
                  <a:schemeClr val="tx1"/>
                </a:solidFill>
              </a:rPr>
              <a:t> version-wise deployment status.</a:t>
            </a:r>
            <a:endParaRPr lang="en-US" altLang="en-GB" sz="2400" b="1">
              <a:solidFill>
                <a:schemeClr val="tx1"/>
              </a:solidFill>
            </a:endParaRPr>
          </a:p>
        </p:txBody>
      </p:sp>
      <p:pic>
        <p:nvPicPr>
          <p:cNvPr id="4" name="Picture 3" descr="Screenshot 2026-03-13 at 7.18.01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405" y="1125220"/>
            <a:ext cx="10784840" cy="55467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52730" y="236855"/>
            <a:ext cx="86321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 u="sng">
                <a:solidFill>
                  <a:srgbClr val="FF0000"/>
                </a:solidFill>
              </a:rPr>
              <a:t>Add Deployment Page</a:t>
            </a:r>
            <a:r>
              <a:rPr lang="en-IN" altLang="en-US" sz="2000" b="1" u="sng">
                <a:solidFill>
                  <a:srgbClr val="FF0000"/>
                </a:solidFill>
              </a:rPr>
              <a:t>:</a:t>
            </a:r>
            <a:r>
              <a:rPr lang="en-IN" altLang="en-US" sz="2000" b="1">
                <a:solidFill>
                  <a:srgbClr val="FF0000"/>
                </a:solidFill>
              </a:rPr>
              <a:t> </a:t>
            </a:r>
            <a:r>
              <a:rPr lang="en-US" altLang="en-GB" sz="2000" b="1">
                <a:solidFill>
                  <a:schemeClr val="tx1"/>
                </a:solidFill>
              </a:rPr>
              <a:t>used to insert deployment records into the system.</a:t>
            </a:r>
            <a:r>
              <a:rPr lang="en-IN" altLang="en-US" sz="2000" b="1">
                <a:solidFill>
                  <a:schemeClr val="tx1"/>
                </a:solidFill>
              </a:rPr>
              <a:t> </a:t>
            </a:r>
            <a:endParaRPr lang="en-IN" altLang="en-US" sz="2000" b="1">
              <a:solidFill>
                <a:schemeClr val="tx1"/>
              </a:solidFill>
            </a:endParaRPr>
          </a:p>
        </p:txBody>
      </p:sp>
      <p:pic>
        <p:nvPicPr>
          <p:cNvPr id="3" name="Picture 2" descr="Screenshot 2026-03-13 at 7.18.06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730" y="883920"/>
            <a:ext cx="10544810" cy="55181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66725" y="240665"/>
            <a:ext cx="569023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sz="3200" b="1" u="sng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System Architecture</a:t>
            </a:r>
            <a:endParaRPr lang="en-GB" altLang="en-US" sz="3200" b="1" u="sng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156960" y="892175"/>
            <a:ext cx="5464810" cy="4402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Developer commits code to GitHub repository.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CI/CD pipeline automatically triggers build and testing process.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If tests pass, application deployment is executed.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Deployment results and logs are stored in the database.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DevOps Deployment Dashboard retrieves and displays deployment data.</a:t>
            </a:r>
            <a:endParaRPr lang="en-US" altLang="en-GB"/>
          </a:p>
        </p:txBody>
      </p:sp>
      <p:pic>
        <p:nvPicPr>
          <p:cNvPr id="4" name="Picture 3" descr="6. System Archite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0" y="833120"/>
            <a:ext cx="5916295" cy="5770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332740" y="16891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sz="3200" b="1" u="sng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Use Case Diagram</a:t>
            </a:r>
            <a:endParaRPr lang="en-US" altLang="en-GB" sz="3200" b="1" u="sng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Picture 3" descr="3. Use-Case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740" y="3009265"/>
            <a:ext cx="11687175" cy="45358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45135" y="1005840"/>
            <a:ext cx="926211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Represents interactions between users and the system.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Shows system functionalities available to developers and administrators.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CI/CD system updates deployment results automatically.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Main actions include viewing dashboard, monitoring deployments, and managing logs.</a:t>
            </a:r>
            <a:endParaRPr lang="en-US" alt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97180" y="266700"/>
            <a:ext cx="5165090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sz="3200" b="1" u="sng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Activity Diagram</a:t>
            </a:r>
            <a:endParaRPr lang="en-GB" altLang="en-US" sz="3200" b="1" u="sng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 descr="7. Activity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320" y="850265"/>
            <a:ext cx="4932680" cy="578040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825615" y="1255395"/>
            <a:ext cx="430212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llustrates the workflow of automated deployment.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Starts when developer pushes code to GitHub.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CI/CD pipeline performs build and testing.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If tests pass, application is deployed.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Dashboard updates deployment status.</a:t>
            </a:r>
            <a:endParaRPr lang="en-US" alt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26060" y="328930"/>
            <a:ext cx="2743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3200" b="1" u="sng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ER Diagram</a:t>
            </a:r>
            <a:endParaRPr lang="en-US" altLang="en-GB" sz="3200" b="1" u="sng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 descr="2. ER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060" y="920750"/>
            <a:ext cx="5727065" cy="559943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7226300" y="1041400"/>
            <a:ext cx="45339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Shows database structure of the system.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Main entities include User, Deployment, Release, and Logs.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Defines relationships between deployment records and logs.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Helps manage deployment history and system monitoring.</a:t>
            </a:r>
            <a:endParaRPr lang="en-US" alt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79400" y="257810"/>
            <a:ext cx="37674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sz="3200" b="1" u="sng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Sequence Diagram</a:t>
            </a:r>
            <a:endParaRPr lang="en-US" altLang="en-GB" sz="3200" b="1" u="sng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 descr="8. Sequence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400" y="858520"/>
            <a:ext cx="7433310" cy="566102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7965440" y="1032510"/>
            <a:ext cx="354520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Describes interaction between system components over time.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Developer pushes code to GitHub.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CI/CD pipeline processes build and deployment.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Dashboard retrieves deployment data from database.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Users can view deployment status.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86080" y="257810"/>
            <a:ext cx="37674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sz="3200" b="1" u="sng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Class Diagram</a:t>
            </a:r>
            <a:endParaRPr lang="en-US" altLang="en-GB" sz="3200" b="1" u="sng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 descr="1. Class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080" y="841375"/>
            <a:ext cx="6849110" cy="538416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7556500" y="1326515"/>
            <a:ext cx="3829050" cy="3261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Represents object-oriented structure of the system.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Includes classes such as User, Deployment, Release, Logs, and CICDPipeline.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Shows attributes, methods, and relationships between system components.</a:t>
            </a:r>
            <a:endParaRPr lang="en-US" alt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15595" y="328930"/>
            <a:ext cx="4818380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sz="3200" b="1" u="sng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Object Diagram</a:t>
            </a:r>
            <a:endParaRPr lang="en-US" altLang="en-GB" sz="3200" b="1" u="sng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 descr="4. Object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595" y="1202055"/>
            <a:ext cx="6643370" cy="484441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7760970" y="2136775"/>
            <a:ext cx="376745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Represents real-time instances of system classes.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Shows how objects like User, Deployment, Release, and Logs interact.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Helps visualize system state during a deployment process.</a:t>
            </a:r>
            <a:endParaRPr lang="en-US" alt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06070" y="320040"/>
            <a:ext cx="542480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sz="3200" b="1" u="sng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Database Schema Diagram</a:t>
            </a:r>
            <a:endParaRPr lang="en-US" altLang="en-GB" sz="3200" b="1" u="sng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 descr="5. Database Schema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070" y="850265"/>
            <a:ext cx="6053455" cy="573151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7012940" y="1656080"/>
            <a:ext cx="4577080" cy="2858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Shows the structure of the database used in the system.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Tables include Users, Deployments, Releases, and Logs.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Relationships store deployment history, logs, and release details.</a:t>
            </a:r>
            <a:endParaRPr lang="en-US" alt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01955" y="234950"/>
            <a:ext cx="52419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3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&amp; Testing</a:t>
            </a:r>
            <a:endParaRPr lang="en-US" altLang="en-GB" sz="32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12750" y="878840"/>
            <a:ext cx="10706735" cy="5577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000" b="1" u="sng">
                <a:solidFill>
                  <a:srgbClr val="FF0000"/>
                </a:solidFill>
              </a:rPr>
              <a:t>Test Case Outcomes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 u="sng">
                <a:solidFill>
                  <a:schemeClr val="tx1"/>
                </a:solidFill>
              </a:rPr>
              <a:t>Deployment Entry</a:t>
            </a:r>
            <a:endParaRPr lang="en-US" altLang="en-GB" b="1" u="sng">
              <a:solidFill>
                <a:schemeClr val="tx1"/>
              </a:solidFill>
            </a:endParaRPr>
          </a:p>
          <a:p>
            <a:r>
              <a:rPr lang="en-US" altLang="en-GB"/>
              <a:t>Deployment data successfully recorded with accurate timestamps and status tracking.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 u="sng">
                <a:solidFill>
                  <a:schemeClr val="tx1"/>
                </a:solidFill>
              </a:rPr>
              <a:t>Dashboard Update</a:t>
            </a:r>
            <a:endParaRPr lang="en-US" altLang="en-GB">
              <a:solidFill>
                <a:schemeClr val="tx1"/>
              </a:solidFill>
            </a:endParaRPr>
          </a:p>
          <a:p>
            <a:r>
              <a:rPr lang="en-US" altLang="en-GB"/>
              <a:t>Dashboard correctly displays real-time build status and deployment history.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 u="sng">
                <a:solidFill>
                  <a:schemeClr val="tx1"/>
                </a:solidFill>
              </a:rPr>
              <a:t>CI/CD Execution</a:t>
            </a:r>
            <a:endParaRPr lang="en-US" altLang="en-GB" b="1" u="sng">
              <a:solidFill>
                <a:schemeClr val="tx1"/>
              </a:solidFill>
            </a:endParaRPr>
          </a:p>
          <a:p>
            <a:r>
              <a:rPr lang="en-US" altLang="en-GB"/>
              <a:t>Automated pipeline successfully builds and deploys application updates.</a:t>
            </a:r>
            <a:endParaRPr lang="en-US" altLang="en-GB"/>
          </a:p>
          <a:p>
            <a:endParaRPr lang="en-US" altLang="en-GB"/>
          </a:p>
          <a:p>
            <a:r>
              <a:rPr lang="en-US" altLang="en-GB" sz="2000" b="1" u="sng">
                <a:solidFill>
                  <a:srgbClr val="FF0000"/>
                </a:solidFill>
              </a:rPr>
              <a:t>Key Achievements</a:t>
            </a:r>
            <a:endParaRPr lang="en-US" altLang="en-GB"/>
          </a:p>
          <a:p>
            <a:r>
              <a:rPr lang="en-US" altLang="en-GB"/>
              <a:t>• Automated deployment tracking implemented successfully.</a:t>
            </a:r>
            <a:endParaRPr lang="en-US" altLang="en-GB"/>
          </a:p>
          <a:p>
            <a:r>
              <a:rPr lang="en-US" altLang="en-GB"/>
              <a:t>• Improved deployment visibility through real-time monitoring.</a:t>
            </a:r>
            <a:endParaRPr lang="en-US" altLang="en-GB"/>
          </a:p>
          <a:p>
            <a:r>
              <a:rPr lang="en-US" altLang="en-GB"/>
              <a:t>• Reduced manual monitoring effort using automated workflows.</a:t>
            </a:r>
            <a:endParaRPr lang="en-US" altLang="en-GB"/>
          </a:p>
          <a:p>
            <a:endParaRPr lang="en-GB" altLang="en-US"/>
          </a:p>
          <a:p>
            <a:r>
              <a:rPr lang="en-US" altLang="en-GB" sz="2000" b="1" u="sng">
                <a:solidFill>
                  <a:srgbClr val="FF0000"/>
                </a:solidFill>
              </a:rPr>
              <a:t>Performance Observation</a:t>
            </a:r>
            <a:endParaRPr lang="en-US" altLang="en-GB"/>
          </a:p>
          <a:p>
            <a:r>
              <a:rPr lang="en-US" altLang="en-GB"/>
              <a:t>• Deployment tracking improved system visibility.</a:t>
            </a:r>
            <a:endParaRPr lang="en-US" altLang="en-GB"/>
          </a:p>
          <a:p>
            <a:r>
              <a:rPr lang="en-US" altLang="en-GB"/>
              <a:t>• Automated pipeline reduced manual deployment errors.</a:t>
            </a:r>
            <a:endParaRPr lang="en-US" altLang="en-GB"/>
          </a:p>
          <a:p>
            <a:r>
              <a:rPr lang="en-US" altLang="en-GB"/>
              <a:t>• Dashboard enabled quick identification of failed builds.</a:t>
            </a:r>
            <a:endParaRPr lang="en-US" altLang="en-GB"/>
          </a:p>
          <a:p>
            <a:r>
              <a:rPr lang="en-US" altLang="en-GB"/>
              <a:t>• Deployment records were successfully stored and retrieved from the database.</a:t>
            </a:r>
            <a:endParaRPr lang="en-US" alt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44525" y="489585"/>
            <a:ext cx="47117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3200" b="1" u="sng">
                <a:solidFill>
                  <a:srgbClr val="0070C0"/>
                </a:solidFill>
              </a:rPr>
              <a:t>Conclusion &amp; Future Scope</a:t>
            </a:r>
            <a:endParaRPr lang="en-US" altLang="en-GB" sz="3200" b="1" u="sng">
              <a:solidFill>
                <a:srgbClr val="0070C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459095" y="1201420"/>
            <a:ext cx="7953375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 u="sng">
                <a:solidFill>
                  <a:srgbClr val="FF0000"/>
                </a:solidFill>
              </a:rPr>
              <a:t>Future Enhancements</a:t>
            </a:r>
            <a:endParaRPr lang="en-US" altLang="en-GB"/>
          </a:p>
          <a:p>
            <a:r>
              <a:rPr lang="en-US" altLang="en-GB" b="1" u="sng">
                <a:solidFill>
                  <a:srgbClr val="7030A0"/>
                </a:solidFill>
              </a:rPr>
              <a:t>Cloud Deployment</a:t>
            </a:r>
            <a:endParaRPr lang="en-US" altLang="en-GB" b="1" u="sng">
              <a:solidFill>
                <a:srgbClr val="7030A0"/>
              </a:solidFill>
            </a:endParaRPr>
          </a:p>
          <a:p>
            <a:r>
              <a:rPr lang="en-US" altLang="en-GB"/>
              <a:t>Extend system to cloud platforms such as AWS, Azure, or GCP.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 u="sng">
                <a:solidFill>
                  <a:srgbClr val="7030A0"/>
                </a:solidFill>
              </a:rPr>
              <a:t>Kubernetes Integration</a:t>
            </a:r>
            <a:endParaRPr lang="en-US" altLang="en-GB"/>
          </a:p>
          <a:p>
            <a:r>
              <a:rPr lang="en-US" altLang="en-GB"/>
              <a:t>Use container orchestration for scalable deployments.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 u="sng">
                <a:solidFill>
                  <a:srgbClr val="7030A0"/>
                </a:solidFill>
              </a:rPr>
              <a:t>Real-Time Alerts</a:t>
            </a:r>
            <a:endParaRPr lang="en-US" altLang="en-GB" b="1" u="sng">
              <a:solidFill>
                <a:srgbClr val="7030A0"/>
              </a:solidFill>
            </a:endParaRPr>
          </a:p>
          <a:p>
            <a:r>
              <a:rPr lang="en-US" altLang="en-GB"/>
              <a:t>Implement notification system for deployment events.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 u="sng">
                <a:solidFill>
                  <a:srgbClr val="7030A0"/>
                </a:solidFill>
              </a:rPr>
              <a:t>DevSecOps Integration</a:t>
            </a:r>
            <a:endParaRPr lang="en-US" altLang="en-GB" b="1" u="sng">
              <a:solidFill>
                <a:srgbClr val="7030A0"/>
              </a:solidFill>
            </a:endParaRPr>
          </a:p>
          <a:p>
            <a:r>
              <a:rPr lang="en-US" altLang="en-GB"/>
              <a:t>Integrate security scanning into the CI/CD pipeline.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 u="sng">
                <a:solidFill>
                  <a:srgbClr val="7030A0"/>
                </a:solidFill>
              </a:rPr>
              <a:t>Advanced Dashboards</a:t>
            </a:r>
            <a:endParaRPr lang="en-US" altLang="en-GB"/>
          </a:p>
          <a:p>
            <a:r>
              <a:rPr lang="en-US" altLang="en-GB"/>
              <a:t>Add analytics and performance monitoring capabilities.</a:t>
            </a:r>
            <a:endParaRPr lang="en-US" altLang="en-GB"/>
          </a:p>
        </p:txBody>
      </p:sp>
      <p:sp>
        <p:nvSpPr>
          <p:cNvPr id="4" name="Text Box 3"/>
          <p:cNvSpPr txBox="1"/>
          <p:nvPr/>
        </p:nvSpPr>
        <p:spPr>
          <a:xfrm>
            <a:off x="599440" y="1993265"/>
            <a:ext cx="475678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 u="sng">
                <a:solidFill>
                  <a:srgbClr val="FF0000"/>
                </a:solidFill>
              </a:rPr>
              <a:t>Project Success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• CI/CD pipeline successfully implemented for automated deployment.</a:t>
            </a:r>
            <a:endParaRPr lang="en-US" altLang="en-GB"/>
          </a:p>
          <a:p>
            <a:r>
              <a:rPr lang="en-US" altLang="en-GB"/>
              <a:t>• Web application dashboard developed for deployment monitoring.</a:t>
            </a:r>
            <a:endParaRPr lang="en-US" altLang="en-GB"/>
          </a:p>
          <a:p>
            <a:r>
              <a:rPr lang="en-US" altLang="en-GB"/>
              <a:t>• Real-time deployment tracking demonstrated successfully.</a:t>
            </a:r>
            <a:endParaRPr lang="en-US" alt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14960" y="222250"/>
            <a:ext cx="5307330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en-GB" sz="3200" b="1" u="sng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References </a:t>
            </a:r>
            <a:endParaRPr lang="en-GB" altLang="en-US" sz="3200" b="1" u="sng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12750" y="1202055"/>
            <a:ext cx="764222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/>
              <a:t>Humble, J., &amp; Farley, D. (2010). Continuous Delivery: Reliable Software Releases through Build, Test, and Deployment Automation.</a:t>
            </a:r>
            <a:endParaRPr lang="en-US" altLang="en-GB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/>
              <a:t>GitHub Documentation – CI/CD Workflows</a:t>
            </a:r>
            <a:endParaRPr lang="en-US" altLang="en-GB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/>
              <a:t>Jenkins Official Documentation</a:t>
            </a:r>
            <a:endParaRPr lang="en-US" altLang="en-GB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/>
              <a:t>Docker Documentation – Containerized Deployment</a:t>
            </a:r>
            <a:endParaRPr lang="en-US" altLang="en-GB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/>
              <a:t>Fowler, M. (2014). Continuous Integration Practices</a:t>
            </a:r>
            <a:endParaRPr lang="en-US" altLang="en-GB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95294" y="3601496"/>
            <a:ext cx="8401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7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text, clipar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2880" y="1709987"/>
            <a:ext cx="4206240" cy="18068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9064</Words>
  <Application>WPS Presentation</Application>
  <PresentationFormat>Widescreen</PresentationFormat>
  <Paragraphs>355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Stuti Gandhi</dc:creator>
  <cp:lastModifiedBy>rocko</cp:lastModifiedBy>
  <cp:revision>576</cp:revision>
  <dcterms:created xsi:type="dcterms:W3CDTF">2021-05-06T09:42:00Z</dcterms:created>
  <dcterms:modified xsi:type="dcterms:W3CDTF">2026-03-14T04:31:15Z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A82B93E8DC014C75B0DF12D52685BD41_13</vt:lpwstr>
  </property>
  <property fmtid="{D5CDD505-2E9C-101B-9397-08002B2CF9AE}" pid="3" name="KSOProductBuildVer">
    <vt:lpwstr>2057-12.2.0.23197</vt:lpwstr>
  </property>
</Properties>
</file>